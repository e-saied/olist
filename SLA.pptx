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ontserrat Bold" charset="1" panose="00000800000000000000"/>
      <p:regular r:id="rId12"/>
    </p:embeddedFont>
    <p:embeddedFont>
      <p:font typeface="Montserrat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727486"/>
            <a:ext cx="9954803" cy="9991134"/>
          </a:xfrm>
          <a:custGeom>
            <a:avLst/>
            <a:gdLst/>
            <a:ahLst/>
            <a:cxnLst/>
            <a:rect r="r" b="b" t="t" l="l"/>
            <a:pathLst>
              <a:path h="9991134" w="9954803">
                <a:moveTo>
                  <a:pt x="0" y="0"/>
                </a:moveTo>
                <a:lnTo>
                  <a:pt x="9954803" y="0"/>
                </a:lnTo>
                <a:lnTo>
                  <a:pt x="9954803" y="9991134"/>
                </a:lnTo>
                <a:lnTo>
                  <a:pt x="0" y="9991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87358" y="3416997"/>
            <a:ext cx="8172450" cy="41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35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DELIVERY</a:t>
            </a:r>
          </a:p>
          <a:p>
            <a:pPr algn="l">
              <a:lnSpc>
                <a:spcPts val="7360"/>
              </a:lnSpc>
            </a:pPr>
            <a:r>
              <a:rPr lang="en-US" b="true" sz="8000" spc="-35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PERFORMANCE SLA</a:t>
            </a:r>
          </a:p>
          <a:p>
            <a:pPr algn="l">
              <a:lnSpc>
                <a:spcPts val="966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34455" y="2453892"/>
            <a:ext cx="5623690" cy="5319513"/>
            <a:chOff x="0" y="0"/>
            <a:chExt cx="1481136" cy="14010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81136" cy="1401024"/>
            </a:xfrm>
            <a:custGeom>
              <a:avLst/>
              <a:gdLst/>
              <a:ahLst/>
              <a:cxnLst/>
              <a:rect r="r" b="b" t="t" l="l"/>
              <a:pathLst>
                <a:path h="1401024" w="1481136">
                  <a:moveTo>
                    <a:pt x="70210" y="0"/>
                  </a:moveTo>
                  <a:lnTo>
                    <a:pt x="1410927" y="0"/>
                  </a:lnTo>
                  <a:cubicBezTo>
                    <a:pt x="1449702" y="0"/>
                    <a:pt x="1481136" y="31434"/>
                    <a:pt x="1481136" y="70210"/>
                  </a:cubicBezTo>
                  <a:lnTo>
                    <a:pt x="1481136" y="1330814"/>
                  </a:lnTo>
                  <a:cubicBezTo>
                    <a:pt x="1481136" y="1369590"/>
                    <a:pt x="1449702" y="1401024"/>
                    <a:pt x="1410927" y="1401024"/>
                  </a:cubicBezTo>
                  <a:lnTo>
                    <a:pt x="70210" y="1401024"/>
                  </a:lnTo>
                  <a:cubicBezTo>
                    <a:pt x="31434" y="1401024"/>
                    <a:pt x="0" y="1369590"/>
                    <a:pt x="0" y="1330814"/>
                  </a:cubicBezTo>
                  <a:lnTo>
                    <a:pt x="0" y="70210"/>
                  </a:lnTo>
                  <a:cubicBezTo>
                    <a:pt x="0" y="31434"/>
                    <a:pt x="31434" y="0"/>
                    <a:pt x="70210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81136" cy="1439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59190" y="3109280"/>
            <a:ext cx="3974221" cy="4008735"/>
          </a:xfrm>
          <a:custGeom>
            <a:avLst/>
            <a:gdLst/>
            <a:ahLst/>
            <a:cxnLst/>
            <a:rect r="r" b="b" t="t" l="l"/>
            <a:pathLst>
              <a:path h="4008735" w="3974221">
                <a:moveTo>
                  <a:pt x="0" y="0"/>
                </a:moveTo>
                <a:lnTo>
                  <a:pt x="3974221" y="0"/>
                </a:lnTo>
                <a:lnTo>
                  <a:pt x="3974221" y="4008736"/>
                </a:lnTo>
                <a:lnTo>
                  <a:pt x="0" y="4008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566" t="-9732" r="-33132" b="-3005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7358" y="2530092"/>
            <a:ext cx="7764574" cy="262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spc="-28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 </a:t>
            </a:r>
            <a:r>
              <a:rPr lang="en-US" b="true" sz="6399" spc="-2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Delivery</a:t>
            </a:r>
          </a:p>
          <a:p>
            <a:pPr algn="l">
              <a:lnSpc>
                <a:spcPts val="6847"/>
              </a:lnSpc>
            </a:pPr>
            <a:r>
              <a:rPr lang="en-US" b="true" sz="6399" spc="-2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Performance SLA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7358" y="5589537"/>
            <a:ext cx="7366178" cy="249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5"/>
              </a:lnSpc>
              <a:spcBef>
                <a:spcPct val="0"/>
              </a:spcBef>
            </a:pPr>
            <a:r>
              <a:rPr lang="en-US" sz="17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7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(Service Level Agreement):</a:t>
            </a:r>
          </a:p>
          <a:p>
            <a:pPr algn="just">
              <a:lnSpc>
                <a:spcPts val="2495"/>
              </a:lnSpc>
              <a:spcBef>
                <a:spcPct val="0"/>
              </a:spcBef>
            </a:pPr>
            <a:r>
              <a:rPr lang="en-US" sz="17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 formal agreement between a service provider and a customer that defines the expected level of service. In delivery, it means the order will be delivered within the estimated time.</a:t>
            </a:r>
          </a:p>
          <a:p>
            <a:pPr algn="just">
              <a:lnSpc>
                <a:spcPts val="2495"/>
              </a:lnSpc>
              <a:spcBef>
                <a:spcPct val="0"/>
              </a:spcBef>
            </a:pPr>
          </a:p>
          <a:p>
            <a:pPr algn="just">
              <a:lnSpc>
                <a:spcPts val="2495"/>
              </a:lnSpc>
              <a:spcBef>
                <a:spcPct val="0"/>
              </a:spcBef>
            </a:pPr>
          </a:p>
          <a:p>
            <a:pPr algn="just">
              <a:lnSpc>
                <a:spcPts val="2495"/>
              </a:lnSpc>
              <a:spcBef>
                <a:spcPct val="0"/>
              </a:spcBef>
            </a:pPr>
          </a:p>
          <a:p>
            <a:pPr algn="just">
              <a:lnSpc>
                <a:spcPts val="24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0581" y="3267394"/>
            <a:ext cx="15788719" cy="6497542"/>
            <a:chOff x="0" y="0"/>
            <a:chExt cx="4158346" cy="17112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58346" cy="1711287"/>
            </a:xfrm>
            <a:custGeom>
              <a:avLst/>
              <a:gdLst/>
              <a:ahLst/>
              <a:cxnLst/>
              <a:rect r="r" b="b" t="t" l="l"/>
              <a:pathLst>
                <a:path h="1711287" w="4158346">
                  <a:moveTo>
                    <a:pt x="25008" y="0"/>
                  </a:moveTo>
                  <a:lnTo>
                    <a:pt x="4133338" y="0"/>
                  </a:lnTo>
                  <a:cubicBezTo>
                    <a:pt x="4139971" y="0"/>
                    <a:pt x="4146331" y="2635"/>
                    <a:pt x="4151021" y="7325"/>
                  </a:cubicBezTo>
                  <a:cubicBezTo>
                    <a:pt x="4155711" y="12014"/>
                    <a:pt x="4158346" y="18375"/>
                    <a:pt x="4158346" y="25008"/>
                  </a:cubicBezTo>
                  <a:lnTo>
                    <a:pt x="4158346" y="1686279"/>
                  </a:lnTo>
                  <a:cubicBezTo>
                    <a:pt x="4158346" y="1692911"/>
                    <a:pt x="4155711" y="1699272"/>
                    <a:pt x="4151021" y="1703962"/>
                  </a:cubicBezTo>
                  <a:cubicBezTo>
                    <a:pt x="4146331" y="1708652"/>
                    <a:pt x="4139971" y="1711287"/>
                    <a:pt x="4133338" y="1711287"/>
                  </a:cubicBezTo>
                  <a:lnTo>
                    <a:pt x="25008" y="1711287"/>
                  </a:lnTo>
                  <a:cubicBezTo>
                    <a:pt x="18375" y="1711287"/>
                    <a:pt x="12014" y="1708652"/>
                    <a:pt x="7325" y="1703962"/>
                  </a:cubicBezTo>
                  <a:cubicBezTo>
                    <a:pt x="2635" y="1699272"/>
                    <a:pt x="0" y="1692911"/>
                    <a:pt x="0" y="1686279"/>
                  </a:cubicBezTo>
                  <a:lnTo>
                    <a:pt x="0" y="25008"/>
                  </a:lnTo>
                  <a:cubicBezTo>
                    <a:pt x="0" y="18375"/>
                    <a:pt x="2635" y="12014"/>
                    <a:pt x="7325" y="7325"/>
                  </a:cubicBezTo>
                  <a:cubicBezTo>
                    <a:pt x="12014" y="2635"/>
                    <a:pt x="18375" y="0"/>
                    <a:pt x="2500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58346" cy="1749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465907" y="3470174"/>
            <a:ext cx="13356186" cy="6091983"/>
          </a:xfrm>
          <a:custGeom>
            <a:avLst/>
            <a:gdLst/>
            <a:ahLst/>
            <a:cxnLst/>
            <a:rect r="r" b="b" t="t" l="l"/>
            <a:pathLst>
              <a:path h="6091983" w="13356186">
                <a:moveTo>
                  <a:pt x="0" y="0"/>
                </a:moveTo>
                <a:lnTo>
                  <a:pt x="13356186" y="0"/>
                </a:lnTo>
                <a:lnTo>
                  <a:pt x="13356186" y="6091982"/>
                </a:lnTo>
                <a:lnTo>
                  <a:pt x="0" y="6091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2" r="0" b="-8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364941" y="755642"/>
            <a:ext cx="5835392" cy="2092037"/>
            <a:chOff x="0" y="0"/>
            <a:chExt cx="1536893" cy="5509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36893" cy="550989"/>
            </a:xfrm>
            <a:custGeom>
              <a:avLst/>
              <a:gdLst/>
              <a:ahLst/>
              <a:cxnLst/>
              <a:rect r="r" b="b" t="t" l="l"/>
              <a:pathLst>
                <a:path h="550989" w="1536893">
                  <a:moveTo>
                    <a:pt x="67663" y="0"/>
                  </a:moveTo>
                  <a:lnTo>
                    <a:pt x="1469231" y="0"/>
                  </a:lnTo>
                  <a:cubicBezTo>
                    <a:pt x="1506600" y="0"/>
                    <a:pt x="1536893" y="30294"/>
                    <a:pt x="1536893" y="67663"/>
                  </a:cubicBezTo>
                  <a:lnTo>
                    <a:pt x="1536893" y="483327"/>
                  </a:lnTo>
                  <a:cubicBezTo>
                    <a:pt x="1536893" y="501272"/>
                    <a:pt x="1529765" y="518482"/>
                    <a:pt x="1517075" y="531171"/>
                  </a:cubicBezTo>
                  <a:cubicBezTo>
                    <a:pt x="1504386" y="543860"/>
                    <a:pt x="1487176" y="550989"/>
                    <a:pt x="1469231" y="550989"/>
                  </a:cubicBezTo>
                  <a:lnTo>
                    <a:pt x="67663" y="550989"/>
                  </a:lnTo>
                  <a:cubicBezTo>
                    <a:pt x="30294" y="550989"/>
                    <a:pt x="0" y="520696"/>
                    <a:pt x="0" y="483327"/>
                  </a:cubicBezTo>
                  <a:lnTo>
                    <a:pt x="0" y="67663"/>
                  </a:lnTo>
                  <a:cubicBezTo>
                    <a:pt x="0" y="30294"/>
                    <a:pt x="30294" y="0"/>
                    <a:pt x="67663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536893" cy="646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</a:pPr>
              <a:r>
                <a:rPr lang="en-US" sz="5000" spc="-150">
                  <a:solidFill>
                    <a:srgbClr val="01010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AVERAGE DELAY</a:t>
              </a:r>
            </a:p>
            <a:p>
              <a:pPr algn="ctr">
                <a:lnSpc>
                  <a:spcPts val="7000"/>
                </a:lnSpc>
              </a:pPr>
              <a:r>
                <a:rPr lang="en-US" sz="5000" spc="-150">
                  <a:solidFill>
                    <a:srgbClr val="01010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~ -11 DAYS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114425"/>
            <a:ext cx="7727678" cy="197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b="true" sz="7200" spc="-3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Understand</a:t>
            </a:r>
            <a:r>
              <a:rPr lang="en-US" b="true" sz="7200" spc="-3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 Data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20649" y="3562350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868461" y="3562350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068672" y="3562350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20649" y="3721970"/>
            <a:ext cx="3086100" cy="1543050"/>
            <a:chOff x="0" y="0"/>
            <a:chExt cx="8128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557637" y="724274"/>
            <a:ext cx="7172725" cy="197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 spc="-31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Order Delivery</a:t>
            </a:r>
            <a:r>
              <a:rPr lang="en-US" b="true" sz="7200" spc="-3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Performance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868461" y="3721970"/>
            <a:ext cx="3086100" cy="1543050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068672" y="3721970"/>
            <a:ext cx="3086100" cy="1543050"/>
            <a:chOff x="0" y="0"/>
            <a:chExt cx="8128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A3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20649" y="7200900"/>
            <a:ext cx="3086100" cy="308610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68461" y="7200900"/>
            <a:ext cx="3086100" cy="308610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68672" y="7200900"/>
            <a:ext cx="3086100" cy="308610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820649" y="7972425"/>
            <a:ext cx="3086100" cy="1543050"/>
            <a:chOff x="0" y="0"/>
            <a:chExt cx="8128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68461" y="7972425"/>
            <a:ext cx="3086100" cy="1543050"/>
            <a:chOff x="0" y="0"/>
            <a:chExt cx="812800" cy="40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068672" y="8001318"/>
            <a:ext cx="3086100" cy="1543050"/>
            <a:chOff x="0" y="0"/>
            <a:chExt cx="812800" cy="406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A3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7067158" y="4255688"/>
            <a:ext cx="309443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3500" spc="-1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Early Orders</a:t>
            </a:r>
          </a:p>
          <a:p>
            <a:pPr algn="l">
              <a:lnSpc>
                <a:spcPts val="3745"/>
              </a:lnSpc>
            </a:pPr>
            <a:r>
              <a:rPr lang="en-US" b="true" sz="3500" spc="-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067915" y="4311885"/>
            <a:ext cx="309443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3500" spc="-1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Late Orders</a:t>
            </a:r>
          </a:p>
          <a:p>
            <a:pPr algn="l">
              <a:lnSpc>
                <a:spcPts val="3745"/>
              </a:lnSpc>
            </a:pPr>
            <a:r>
              <a:rPr lang="en-US" b="true" sz="3500" spc="-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714551" y="4035978"/>
            <a:ext cx="309443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3500" spc="-1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 Time Orders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48013" y="5653278"/>
            <a:ext cx="1631371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3500" spc="-15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87788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867100" y="5653278"/>
            <a:ext cx="1241221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3500" spc="-15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7308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142470" y="5653278"/>
            <a:ext cx="1119299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3500" spc="-15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1380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548013" y="8519795"/>
            <a:ext cx="3094436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3500" spc="-1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90.99%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67100" y="8519795"/>
            <a:ext cx="3094436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3500" spc="-1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7.57%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997873" y="8548688"/>
            <a:ext cx="3094436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3500" spc="-1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1.43%</a:t>
            </a:r>
          </a:p>
        </p:txBody>
      </p:sp>
      <p:pic>
        <p:nvPicPr>
          <p:cNvPr name="Picture 49" id="4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4454" y="2990378"/>
            <a:ext cx="6329942" cy="6863658"/>
          </a:xfrm>
          <a:prstGeom prst="rect">
            <a:avLst/>
          </a:prstGeom>
        </p:spPr>
      </p:pic>
      <p:sp>
        <p:nvSpPr>
          <p:cNvPr name="TextBox 50" id="50"/>
          <p:cNvSpPr txBox="true"/>
          <p:nvPr/>
        </p:nvSpPr>
        <p:spPr>
          <a:xfrm rot="0">
            <a:off x="2692309" y="7897834"/>
            <a:ext cx="994231" cy="32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8"/>
              </a:lnSpc>
            </a:pPr>
            <a:r>
              <a:rPr lang="en-US" b="true" sz="2400" spc="-1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92.1%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195194" y="4663739"/>
            <a:ext cx="994231" cy="32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8"/>
              </a:lnSpc>
            </a:pPr>
            <a:r>
              <a:rPr lang="en-US" b="true" sz="2400" spc="-1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7.9%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636364"/>
            <a:ext cx="7362309" cy="7014273"/>
          </a:xfrm>
          <a:custGeom>
            <a:avLst/>
            <a:gdLst/>
            <a:ahLst/>
            <a:cxnLst/>
            <a:rect r="r" b="b" t="t" l="l"/>
            <a:pathLst>
              <a:path h="7014273" w="7362309">
                <a:moveTo>
                  <a:pt x="0" y="0"/>
                </a:moveTo>
                <a:lnTo>
                  <a:pt x="7362309" y="0"/>
                </a:lnTo>
                <a:lnTo>
                  <a:pt x="7362309" y="7014272"/>
                </a:lnTo>
                <a:lnTo>
                  <a:pt x="0" y="7014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0" y="5427568"/>
            <a:ext cx="7572831" cy="3086100"/>
            <a:chOff x="0" y="0"/>
            <a:chExt cx="199449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4490" cy="812800"/>
            </a:xfrm>
            <a:custGeom>
              <a:avLst/>
              <a:gdLst/>
              <a:ahLst/>
              <a:cxnLst/>
              <a:rect r="r" b="b" t="t" l="l"/>
              <a:pathLst>
                <a:path h="812800" w="1994490">
                  <a:moveTo>
                    <a:pt x="52139" y="0"/>
                  </a:moveTo>
                  <a:lnTo>
                    <a:pt x="1942352" y="0"/>
                  </a:lnTo>
                  <a:cubicBezTo>
                    <a:pt x="1956180" y="0"/>
                    <a:pt x="1969441" y="5493"/>
                    <a:pt x="1979219" y="15271"/>
                  </a:cubicBezTo>
                  <a:cubicBezTo>
                    <a:pt x="1988997" y="25049"/>
                    <a:pt x="1994490" y="38311"/>
                    <a:pt x="1994490" y="52139"/>
                  </a:cubicBezTo>
                  <a:lnTo>
                    <a:pt x="1994490" y="760661"/>
                  </a:lnTo>
                  <a:cubicBezTo>
                    <a:pt x="1994490" y="774489"/>
                    <a:pt x="1988997" y="787751"/>
                    <a:pt x="1979219" y="797529"/>
                  </a:cubicBezTo>
                  <a:cubicBezTo>
                    <a:pt x="1969441" y="807307"/>
                    <a:pt x="1956180" y="812800"/>
                    <a:pt x="1942352" y="812800"/>
                  </a:cubicBezTo>
                  <a:lnTo>
                    <a:pt x="52139" y="812800"/>
                  </a:lnTo>
                  <a:cubicBezTo>
                    <a:pt x="38311" y="812800"/>
                    <a:pt x="25049" y="807307"/>
                    <a:pt x="15271" y="797529"/>
                  </a:cubicBezTo>
                  <a:cubicBezTo>
                    <a:pt x="5493" y="787751"/>
                    <a:pt x="0" y="774489"/>
                    <a:pt x="0" y="760661"/>
                  </a:cubicBezTo>
                  <a:lnTo>
                    <a:pt x="0" y="52139"/>
                  </a:lnTo>
                  <a:cubicBezTo>
                    <a:pt x="0" y="38311"/>
                    <a:pt x="5493" y="25049"/>
                    <a:pt x="15271" y="15271"/>
                  </a:cubicBezTo>
                  <a:cubicBezTo>
                    <a:pt x="25049" y="5493"/>
                    <a:pt x="38311" y="0"/>
                    <a:pt x="52139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9449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0" y="1845957"/>
            <a:ext cx="7572831" cy="294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 spc="-31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Gap between actual time and expected </a:t>
            </a:r>
            <a:r>
              <a:rPr lang="en-US" b="true" sz="7200" spc="-3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94992" y="5817839"/>
            <a:ext cx="5613334" cy="2372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6"/>
              </a:lnSpc>
            </a:pPr>
            <a:r>
              <a:rPr lang="en-US" sz="5800" spc="-25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bad estimation </a:t>
            </a:r>
          </a:p>
          <a:p>
            <a:pPr algn="l">
              <a:lnSpc>
                <a:spcPts val="6206"/>
              </a:lnSpc>
            </a:pPr>
            <a:r>
              <a:rPr lang="en-US" sz="5800" spc="-25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+</a:t>
            </a:r>
          </a:p>
          <a:p>
            <a:pPr algn="l">
              <a:lnSpc>
                <a:spcPts val="6206"/>
              </a:lnSpc>
            </a:pPr>
            <a:r>
              <a:rPr lang="en-US" sz="5800" spc="-25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good delivery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7358" y="4325359"/>
            <a:ext cx="10291074" cy="150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b="true" sz="12000" spc="-52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DAHFnnvYlHM</dc:identifier>
  <dcterms:modified xsi:type="dcterms:W3CDTF">2011-08-01T06:04:30Z</dcterms:modified>
  <cp:revision>1</cp:revision>
  <dc:title>Black and Blue Modern Simple Data Analyst Presentation</dc:title>
</cp:coreProperties>
</file>